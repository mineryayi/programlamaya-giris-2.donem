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328" r:id="rId2"/>
    <p:sldId id="329" r:id="rId3"/>
    <p:sldId id="330" r:id="rId4"/>
    <p:sldId id="331" r:id="rId5"/>
    <p:sldId id="338" r:id="rId6"/>
    <p:sldId id="339" r:id="rId7"/>
    <p:sldId id="340" r:id="rId8"/>
    <p:sldId id="341" r:id="rId9"/>
    <p:sldId id="342" r:id="rId10"/>
    <p:sldId id="343" r:id="rId11"/>
    <p:sldId id="345" r:id="rId12"/>
    <p:sldId id="344" r:id="rId13"/>
    <p:sldId id="336" r:id="rId14"/>
    <p:sldId id="332" r:id="rId15"/>
    <p:sldId id="333" r:id="rId16"/>
    <p:sldId id="334" r:id="rId17"/>
    <p:sldId id="335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k atak" initials="aa" lastIdx="0" clrIdx="0">
    <p:extLst>
      <p:ext uri="{19B8F6BF-5375-455C-9EA6-DF929625EA0E}">
        <p15:presenceInfo xmlns:p15="http://schemas.microsoft.com/office/powerpoint/2012/main" userId="db1b8d082cc041b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669" autoAdjust="0"/>
  </p:normalViewPr>
  <p:slideViewPr>
    <p:cSldViewPr snapToGrid="0" snapToObjects="1">
      <p:cViewPr varScale="1">
        <p:scale>
          <a:sx n="91" d="100"/>
          <a:sy n="91" d="100"/>
        </p:scale>
        <p:origin x="2184" y="8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8BA786-973D-434D-A9C9-5CEE4E13CECF}" type="datetimeFigureOut">
              <a:rPr lang="tr-TR" smtClean="0"/>
              <a:t>21.04.2026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3B2FEA-DBC9-4CD1-9FF5-35098651DBA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55009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A99C5D-F338-476F-9BB8-24452CD9D7FC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30089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A99C5D-F338-476F-9BB8-24452CD9D7FC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690397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A99C5D-F338-476F-9BB8-24452CD9D7FC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26441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A99C5D-F338-476F-9BB8-24452CD9D7FC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270031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A99C5D-F338-476F-9BB8-24452CD9D7FC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696075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A99C5D-F338-476F-9BB8-24452CD9D7FC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09570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A99C5D-F338-476F-9BB8-24452CD9D7FC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36344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A99C5D-F338-476F-9BB8-24452CD9D7FC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742896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A99C5D-F338-476F-9BB8-24452CD9D7FC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845479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A99C5D-F338-476F-9BB8-24452CD9D7FC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000034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A99C5D-F338-476F-9BB8-24452CD9D7FC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538217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A99C5D-F338-476F-9BB8-24452CD9D7FC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154232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A99C5D-F338-476F-9BB8-24452CD9D7FC}" type="slidenum">
              <a:rPr lang="tr-TR" smtClean="0"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316100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A99C5D-F338-476F-9BB8-24452CD9D7FC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36252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3</a:t>
            </a:r>
            <a:br>
              <a:rPr lang="tr-TR" dirty="0"/>
            </a:br>
            <a:r>
              <a:rPr lang="tr-TR" dirty="0"/>
              <a:t>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A99C5D-F338-476F-9BB8-24452CD9D7FC}" type="slidenum">
              <a:rPr lang="tr-TR" smtClean="0"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60111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A99C5D-F338-476F-9BB8-24452CD9D7FC}" type="slidenum">
              <a:rPr lang="tr-TR" smtClean="0"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681188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5 Ali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A99C5D-F338-476F-9BB8-24452CD9D7FC}" type="slidenum">
              <a:rPr lang="tr-TR" smtClean="0"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06261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Box 7"/>
          <p:cNvSpPr txBox="1">
            <a:spLocks noChangeArrowheads="1"/>
          </p:cNvSpPr>
          <p:nvPr userDrawn="1"/>
        </p:nvSpPr>
        <p:spPr bwMode="auto">
          <a:xfrm>
            <a:off x="669925" y="6315075"/>
            <a:ext cx="8093075" cy="307777"/>
          </a:xfrm>
          <a:prstGeom prst="rect">
            <a:avLst/>
          </a:prstGeom>
          <a:noFill/>
          <a:ln w="9525">
            <a:solidFill>
              <a:schemeClr val="accent4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altLang="tr-TR" sz="1400" dirty="0">
                <a:solidFill>
                  <a:srgbClr val="0000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Programlamaya Giriş</a:t>
            </a:r>
            <a:r>
              <a:rPr lang="tr-TR" altLang="tr-TR" sz="1400" dirty="0">
                <a:solidFill>
                  <a:srgbClr val="000066"/>
                </a:solidFill>
                <a:latin typeface="Arial" panose="020B0604020202020204" pitchFamily="34" charset="0"/>
              </a:rPr>
              <a:t>			                                             KTO Karatay Universitesi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28600" y="265113"/>
            <a:ext cx="8839200" cy="52322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tr-TR" altLang="tr-TR" sz="2800" dirty="0">
                <a:solidFill>
                  <a:srgbClr val="0000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Tekrar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35166" y="1075565"/>
            <a:ext cx="4572000" cy="406265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sz="2000" dirty="0"/>
              <a:t>#include &lt;stdio.h&gt;</a:t>
            </a:r>
          </a:p>
          <a:p>
            <a:r>
              <a:rPr lang="tr-TR" sz="2000" dirty="0"/>
              <a:t>#define GECME_NOTU 60</a:t>
            </a:r>
          </a:p>
          <a:p>
            <a:endParaRPr lang="tr-TR" sz="2000" dirty="0"/>
          </a:p>
          <a:p>
            <a:r>
              <a:rPr lang="tr-TR" sz="2000" dirty="0"/>
              <a:t>int main(void){</a:t>
            </a:r>
          </a:p>
          <a:p>
            <a:r>
              <a:rPr lang="tr-TR" sz="2000" dirty="0"/>
              <a:t>    int not = 75;</a:t>
            </a:r>
          </a:p>
          <a:p>
            <a:endParaRPr lang="tr-TR" sz="2000" dirty="0"/>
          </a:p>
          <a:p>
            <a:r>
              <a:rPr lang="tr-TR" sz="2000" dirty="0"/>
              <a:t>    if (not &gt;= GECME_NOTU)</a:t>
            </a:r>
          </a:p>
          <a:p>
            <a:r>
              <a:rPr lang="tr-TR" sz="2000" dirty="0"/>
              <a:t>        printf("Gecti\n");</a:t>
            </a:r>
          </a:p>
          <a:p>
            <a:r>
              <a:rPr lang="tr-TR" sz="2000" dirty="0"/>
              <a:t>    else</a:t>
            </a:r>
          </a:p>
          <a:p>
            <a:r>
              <a:rPr lang="tr-TR" sz="2000" dirty="0"/>
              <a:t>        printf("Kaldi\n");</a:t>
            </a:r>
          </a:p>
          <a:p>
            <a:endParaRPr lang="tr-TR" sz="2000" dirty="0"/>
          </a:p>
          <a:p>
            <a:r>
              <a:rPr lang="tr-TR" sz="2000" dirty="0"/>
              <a:t>    return 0;</a:t>
            </a:r>
          </a:p>
          <a:p>
            <a:r>
              <a:rPr lang="tr-TR" sz="2000" dirty="0"/>
              <a:t>}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4483865" y="1247538"/>
            <a:ext cx="4362679" cy="1891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#include &lt;stdio.h&gt;: printf gibi standart fonksiyonları kullanabilmek için gerekir.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#define GECME_NOTU 60: 60 sayısına anlamlı bir isim verir. </a:t>
            </a:r>
          </a:p>
        </p:txBody>
      </p:sp>
    </p:spTree>
    <p:extLst>
      <p:ext uri="{BB962C8B-B14F-4D97-AF65-F5344CB8AC3E}">
        <p14:creationId xmlns:p14="http://schemas.microsoft.com/office/powerpoint/2010/main" val="578203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28600" y="265113"/>
            <a:ext cx="8839200" cy="52322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tr-TR" altLang="tr-TR" sz="2800" dirty="0">
                <a:solidFill>
                  <a:srgbClr val="0000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Tekrar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3402376" y="4893780"/>
            <a:ext cx="523117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2000" dirty="0">
                <a:latin typeface="+mj-lt"/>
              </a:rPr>
              <a:t>Yazma sonrası gösterge dosya sonuna gider.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2000" dirty="0">
                <a:latin typeface="+mj-lt"/>
              </a:rPr>
              <a:t>ftell(fp) bulunduğumuz byte konumunu verir.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2000" dirty="0">
                <a:latin typeface="+mj-lt"/>
              </a:rPr>
              <a:t>rewind(fp) dosya göstergesini başa alır.</a:t>
            </a: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28600" y="864469"/>
            <a:ext cx="5789364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000" dirty="0"/>
              <a:t>#include &lt;stdio.h&gt;</a:t>
            </a:r>
          </a:p>
          <a:p>
            <a:endParaRPr lang="tr-TR" sz="2000" dirty="0"/>
          </a:p>
          <a:p>
            <a:r>
              <a:rPr lang="tr-TR" sz="2000" dirty="0"/>
              <a:t>int main(void){</a:t>
            </a:r>
          </a:p>
          <a:p>
            <a:r>
              <a:rPr lang="tr-TR" sz="2000" dirty="0"/>
              <a:t>    FILE *fp = fopen("metin.txt", "w+");</a:t>
            </a:r>
          </a:p>
          <a:p>
            <a:r>
              <a:rPr lang="tr-TR" sz="2000" dirty="0"/>
              <a:t>    if (fp == NULL) return 1;</a:t>
            </a:r>
          </a:p>
          <a:p>
            <a:endParaRPr lang="tr-TR" sz="2000" dirty="0"/>
          </a:p>
          <a:p>
            <a:r>
              <a:rPr lang="tr-TR" sz="2000" dirty="0"/>
              <a:t>    fprintf(fp, "ABCDE");</a:t>
            </a:r>
          </a:p>
          <a:p>
            <a:r>
              <a:rPr lang="tr-TR" sz="2000" dirty="0"/>
              <a:t>    printf("Yazma sonrasi konum: %ld\n", ftell(fp));</a:t>
            </a:r>
          </a:p>
          <a:p>
            <a:endParaRPr lang="tr-TR" sz="2000" dirty="0"/>
          </a:p>
          <a:p>
            <a:r>
              <a:rPr lang="tr-TR" sz="2000" dirty="0"/>
              <a:t>    rewind(fp);</a:t>
            </a:r>
          </a:p>
          <a:p>
            <a:r>
              <a:rPr lang="tr-TR" sz="2000" dirty="0"/>
              <a:t>    printf("Rewind sonrasi konum: %ld\n", ftell(fp));</a:t>
            </a:r>
          </a:p>
          <a:p>
            <a:endParaRPr lang="tr-TR" sz="2000" dirty="0"/>
          </a:p>
          <a:p>
            <a:r>
              <a:rPr lang="tr-TR" sz="2000" dirty="0"/>
              <a:t>    fclose(fp);</a:t>
            </a:r>
          </a:p>
          <a:p>
            <a:r>
              <a:rPr lang="tr-TR" sz="2000" dirty="0"/>
              <a:t>    return 0;</a:t>
            </a:r>
          </a:p>
          <a:p>
            <a:r>
              <a:rPr lang="tr-TR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46815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28600" y="265113"/>
            <a:ext cx="8839200" cy="52322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tr-TR" altLang="tr-TR" sz="2800" dirty="0">
                <a:solidFill>
                  <a:srgbClr val="0000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Tekrar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3402376" y="5047668"/>
            <a:ext cx="574162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2000" dirty="0">
                <a:latin typeface="+mj-lt"/>
              </a:rPr>
              <a:t> fseek(fp, 3, SEEK_SET) dosya başından 3 byte ilerler.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2000" dirty="0">
                <a:latin typeface="+mj-lt"/>
              </a:rPr>
              <a:t> Sonraki okuma D karakterini getirir.</a:t>
            </a: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8600" y="877296"/>
            <a:ext cx="4828142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000" dirty="0"/>
              <a:t>#include &lt;stdio.h&gt;</a:t>
            </a:r>
          </a:p>
          <a:p>
            <a:endParaRPr lang="tr-TR" sz="2000" dirty="0"/>
          </a:p>
          <a:p>
            <a:r>
              <a:rPr lang="tr-TR" sz="2000" dirty="0"/>
              <a:t>int main(void){</a:t>
            </a:r>
          </a:p>
          <a:p>
            <a:r>
              <a:rPr lang="tr-TR" sz="2000" dirty="0"/>
              <a:t>    FILE *fp = fopen("metin.txt", "w+");</a:t>
            </a:r>
          </a:p>
          <a:p>
            <a:r>
              <a:rPr lang="tr-TR" sz="2000" dirty="0"/>
              <a:t>    if (fp == NULL) return 1;</a:t>
            </a:r>
          </a:p>
          <a:p>
            <a:endParaRPr lang="tr-TR" sz="2000" dirty="0"/>
          </a:p>
          <a:p>
            <a:r>
              <a:rPr lang="tr-TR" sz="2000" dirty="0"/>
              <a:t>    fprintf(fp, "ABCDEFGHIJ");</a:t>
            </a:r>
          </a:p>
          <a:p>
            <a:endParaRPr lang="tr-TR" sz="2000" dirty="0"/>
          </a:p>
          <a:p>
            <a:r>
              <a:rPr lang="tr-TR" sz="2000" dirty="0"/>
              <a:t>    fseek(fp, 3, SEEK_SET);</a:t>
            </a:r>
          </a:p>
          <a:p>
            <a:r>
              <a:rPr lang="tr-TR" sz="2000" dirty="0"/>
              <a:t>    char ch = fgetc(fp);</a:t>
            </a:r>
          </a:p>
          <a:p>
            <a:endParaRPr lang="tr-TR" sz="2000" dirty="0"/>
          </a:p>
          <a:p>
            <a:r>
              <a:rPr lang="tr-TR" sz="2000" dirty="0"/>
              <a:t>    printf("Okunan karakter: %c\n", ch);</a:t>
            </a:r>
          </a:p>
          <a:p>
            <a:endParaRPr lang="tr-TR" sz="2000" dirty="0"/>
          </a:p>
          <a:p>
            <a:r>
              <a:rPr lang="tr-TR" sz="2000" dirty="0"/>
              <a:t>    fclose(fp);</a:t>
            </a:r>
          </a:p>
          <a:p>
            <a:r>
              <a:rPr lang="tr-TR" sz="2000" dirty="0"/>
              <a:t>    return 0;</a:t>
            </a:r>
          </a:p>
          <a:p>
            <a:r>
              <a:rPr lang="tr-TR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42681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28600" y="265113"/>
            <a:ext cx="8839200" cy="52322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tr-TR" altLang="tr-TR" sz="2800" dirty="0">
                <a:solidFill>
                  <a:srgbClr val="0000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Tekrar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5099892" y="1465441"/>
            <a:ext cx="33909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2000" dirty="0">
                <a:latin typeface="+mj-lt"/>
              </a:rPr>
              <a:t> fwrite: struct verisini dosyaya ham veri olarak yazar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2000" dirty="0">
                <a:latin typeface="+mj-lt"/>
              </a:rPr>
              <a:t>fread: dosyadan geri okur</a:t>
            </a: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41064" y="876468"/>
            <a:ext cx="501313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#include &lt;stdio.h&gt;</a:t>
            </a:r>
          </a:p>
          <a:p>
            <a:r>
              <a:rPr lang="tr-TR" dirty="0"/>
              <a:t>struct Ogrenci {</a:t>
            </a:r>
          </a:p>
          <a:p>
            <a:r>
              <a:rPr lang="tr-TR" dirty="0"/>
              <a:t>    int no;</a:t>
            </a:r>
          </a:p>
          <a:p>
            <a:r>
              <a:rPr lang="tr-TR" dirty="0"/>
              <a:t>    char ad[20];</a:t>
            </a:r>
          </a:p>
          <a:p>
            <a:r>
              <a:rPr lang="tr-TR" dirty="0"/>
              <a:t>    float ort;</a:t>
            </a:r>
          </a:p>
          <a:p>
            <a:r>
              <a:rPr lang="tr-TR" dirty="0"/>
              <a:t>};</a:t>
            </a:r>
          </a:p>
          <a:p>
            <a:r>
              <a:rPr lang="tr-TR" dirty="0"/>
              <a:t>int main(void){</a:t>
            </a:r>
          </a:p>
          <a:p>
            <a:r>
              <a:rPr lang="tr-TR" dirty="0"/>
              <a:t>    struct Ogrenci o1 = {101, "Ali", 85.5};</a:t>
            </a:r>
          </a:p>
          <a:p>
            <a:r>
              <a:rPr lang="tr-TR" dirty="0"/>
              <a:t>    struct Ogrenci o2;</a:t>
            </a:r>
          </a:p>
          <a:p>
            <a:r>
              <a:rPr lang="tr-TR" dirty="0"/>
              <a:t>    FILE *fp = fopen("ogr.dat", "wb");</a:t>
            </a:r>
          </a:p>
          <a:p>
            <a:r>
              <a:rPr lang="tr-TR" dirty="0"/>
              <a:t>    if (fp == NULL) return 1;</a:t>
            </a:r>
          </a:p>
          <a:p>
            <a:r>
              <a:rPr lang="tr-TR" dirty="0"/>
              <a:t>    fwrite(&amp;o1, sizeof(struct Ogrenci), 1, fp);</a:t>
            </a:r>
          </a:p>
          <a:p>
            <a:r>
              <a:rPr lang="tr-TR" dirty="0"/>
              <a:t>    fclose(fp);</a:t>
            </a:r>
          </a:p>
          <a:p>
            <a:r>
              <a:rPr lang="tr-TR" dirty="0"/>
              <a:t>    fp = fopen("ogr.dat", "rb");</a:t>
            </a:r>
          </a:p>
          <a:p>
            <a:r>
              <a:rPr lang="tr-TR" dirty="0"/>
              <a:t>    if (fp == NULL) return 1;</a:t>
            </a:r>
          </a:p>
          <a:p>
            <a:r>
              <a:rPr lang="tr-TR" dirty="0"/>
              <a:t>    fread(&amp;o2, sizeof(struct Ogrenci), 1, fp);</a:t>
            </a:r>
          </a:p>
          <a:p>
            <a:r>
              <a:rPr lang="tr-TR" dirty="0"/>
              <a:t>    printf("%d %s %.1f\n", o2.no, o2.ad, o2.ort);</a:t>
            </a:r>
          </a:p>
          <a:p>
            <a:r>
              <a:rPr lang="tr-TR" dirty="0"/>
              <a:t>    fclose(fp);</a:t>
            </a:r>
          </a:p>
          <a:p>
            <a:r>
              <a:rPr lang="tr-TR" dirty="0"/>
              <a:t>    return 0;</a:t>
            </a:r>
          </a:p>
          <a:p>
            <a:r>
              <a:rPr lang="tr-T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95047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28600" y="265113"/>
            <a:ext cx="8839200" cy="52322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tr-TR" altLang="tr-TR" sz="2800" dirty="0">
                <a:solidFill>
                  <a:srgbClr val="0000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Tekrar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28600" y="1210908"/>
            <a:ext cx="8494005" cy="1891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Soru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metin.txt dosyasını "w+" modunda açıp "ABCDEFGHIJ" yazınız.</a:t>
            </a:r>
            <a:br>
              <a:rPr kumimoji="0" lang="tr-TR" altLang="tr-TR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tr-TR" altLang="tr-TR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Daha sonra fseek kullanarak baştan 4 byte ileri gidiniz ve bulunduğunuz karakteri ekrana yazdırınız.</a:t>
            </a:r>
          </a:p>
        </p:txBody>
      </p:sp>
    </p:spTree>
    <p:extLst>
      <p:ext uri="{BB962C8B-B14F-4D97-AF65-F5344CB8AC3E}">
        <p14:creationId xmlns:p14="http://schemas.microsoft.com/office/powerpoint/2010/main" val="310367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28600" y="265113"/>
            <a:ext cx="8839200" cy="52322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tr-TR" altLang="tr-TR" sz="2800" dirty="0">
                <a:solidFill>
                  <a:srgbClr val="0000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Tekrar</a:t>
            </a:r>
          </a:p>
        </p:txBody>
      </p:sp>
      <p:sp>
        <p:nvSpPr>
          <p:cNvPr id="2" name="Rectangle 1"/>
          <p:cNvSpPr/>
          <p:nvPr/>
        </p:nvSpPr>
        <p:spPr>
          <a:xfrm>
            <a:off x="1129229" y="1034641"/>
            <a:ext cx="4572000" cy="501675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sz="2000" dirty="0"/>
              <a:t>#include &lt;stdio.h&gt;</a:t>
            </a:r>
          </a:p>
          <a:p>
            <a:endParaRPr lang="tr-TR" sz="2000" dirty="0"/>
          </a:p>
          <a:p>
            <a:r>
              <a:rPr lang="tr-TR" sz="2000" dirty="0"/>
              <a:t>int main(void){</a:t>
            </a:r>
          </a:p>
          <a:p>
            <a:r>
              <a:rPr lang="tr-TR" sz="2000" dirty="0"/>
              <a:t>    FILE *fp = fopen("metin.txt", "w+");</a:t>
            </a:r>
          </a:p>
          <a:p>
            <a:r>
              <a:rPr lang="tr-TR" sz="2000" dirty="0"/>
              <a:t>    if (fp == NULL) return 1;</a:t>
            </a:r>
          </a:p>
          <a:p>
            <a:endParaRPr lang="tr-TR" sz="2000" dirty="0"/>
          </a:p>
          <a:p>
            <a:r>
              <a:rPr lang="tr-TR" sz="2000" dirty="0"/>
              <a:t>    fprintf(fp, "ABCDEFGHIJ");</a:t>
            </a:r>
          </a:p>
          <a:p>
            <a:endParaRPr lang="tr-TR" sz="2000" dirty="0"/>
          </a:p>
          <a:p>
            <a:r>
              <a:rPr lang="tr-TR" sz="2000" dirty="0"/>
              <a:t>    fseek(fp, 4, SEEK_SET);</a:t>
            </a:r>
          </a:p>
          <a:p>
            <a:endParaRPr lang="tr-TR" sz="2000" dirty="0"/>
          </a:p>
          <a:p>
            <a:r>
              <a:rPr lang="tr-TR" sz="2000" dirty="0"/>
              <a:t>    char ch = fgetc(fp);</a:t>
            </a:r>
          </a:p>
          <a:p>
            <a:r>
              <a:rPr lang="tr-TR" sz="2000" dirty="0"/>
              <a:t>    printf("Okunan karakter: %c\n", ch);</a:t>
            </a:r>
          </a:p>
          <a:p>
            <a:endParaRPr lang="tr-TR" sz="2000" dirty="0"/>
          </a:p>
          <a:p>
            <a:r>
              <a:rPr lang="tr-TR" sz="2000" dirty="0"/>
              <a:t>    fclose(fp);</a:t>
            </a:r>
          </a:p>
          <a:p>
            <a:r>
              <a:rPr lang="tr-TR" sz="2000" dirty="0"/>
              <a:t>    return 0;</a:t>
            </a:r>
          </a:p>
          <a:p>
            <a:r>
              <a:rPr lang="tr-TR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05667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28600" y="265113"/>
            <a:ext cx="8839200" cy="52322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tr-TR" altLang="tr-TR" sz="2800" dirty="0">
                <a:solidFill>
                  <a:srgbClr val="0000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Tekrar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46113" y="825230"/>
            <a:ext cx="8604173" cy="4199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Soru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Aşağıdaki alanlara sahip bir struct Ogrenci tanımlayınız: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Bir öğrenci oluşturup: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binary dosyaya yazınız,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tekrar okuyunuz,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ekrana yazdırınız.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92321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28600" y="265113"/>
            <a:ext cx="8839200" cy="52322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tr-TR" altLang="tr-TR" sz="2800" dirty="0">
                <a:solidFill>
                  <a:srgbClr val="0000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Tekrar</a:t>
            </a:r>
          </a:p>
        </p:txBody>
      </p:sp>
      <p:sp>
        <p:nvSpPr>
          <p:cNvPr id="3" name="Rectangle 2"/>
          <p:cNvSpPr/>
          <p:nvPr/>
        </p:nvSpPr>
        <p:spPr>
          <a:xfrm>
            <a:off x="393188" y="683577"/>
            <a:ext cx="6031735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000" dirty="0"/>
              <a:t>#include &lt;stdio.h&gt;</a:t>
            </a:r>
          </a:p>
          <a:p>
            <a:r>
              <a:rPr lang="tr-TR" sz="2000" dirty="0"/>
              <a:t>struct Ogrenci {</a:t>
            </a:r>
          </a:p>
          <a:p>
            <a:r>
              <a:rPr lang="tr-TR" sz="2000" dirty="0"/>
              <a:t>    int no;</a:t>
            </a:r>
          </a:p>
          <a:p>
            <a:r>
              <a:rPr lang="tr-TR" sz="2000" dirty="0"/>
              <a:t>    char ad[20];</a:t>
            </a:r>
          </a:p>
          <a:p>
            <a:r>
              <a:rPr lang="tr-TR" sz="2000" dirty="0"/>
              <a:t>};</a:t>
            </a:r>
          </a:p>
          <a:p>
            <a:r>
              <a:rPr lang="tr-TR" sz="2000" dirty="0"/>
              <a:t>int main(void){</a:t>
            </a:r>
          </a:p>
          <a:p>
            <a:r>
              <a:rPr lang="tr-TR" sz="2000" dirty="0"/>
              <a:t>    struct Ogrenci o1 = {101, "Ali"};</a:t>
            </a:r>
          </a:p>
          <a:p>
            <a:r>
              <a:rPr lang="tr-TR" sz="2000" dirty="0"/>
              <a:t>    struct Ogrenci o2;</a:t>
            </a:r>
          </a:p>
          <a:p>
            <a:r>
              <a:rPr lang="tr-TR" sz="2000" dirty="0"/>
              <a:t>    FILE *fp = fopen("ogr.dat", "wb");</a:t>
            </a:r>
          </a:p>
          <a:p>
            <a:r>
              <a:rPr lang="tr-TR" sz="2000" dirty="0"/>
              <a:t>    if (fp == NULL) return 1;</a:t>
            </a:r>
          </a:p>
          <a:p>
            <a:r>
              <a:rPr lang="tr-TR" sz="2000" dirty="0"/>
              <a:t>    fwrite(&amp;o1, sizeof(struct Ogrenci), 1, fp);</a:t>
            </a:r>
          </a:p>
          <a:p>
            <a:r>
              <a:rPr lang="tr-TR" sz="2000" dirty="0"/>
              <a:t>    fclose(fp);</a:t>
            </a:r>
          </a:p>
          <a:p>
            <a:r>
              <a:rPr lang="tr-TR" sz="2000" dirty="0"/>
              <a:t>    fp = fopen("ogr.dat", "rb");</a:t>
            </a:r>
          </a:p>
          <a:p>
            <a:r>
              <a:rPr lang="tr-TR" sz="2000" dirty="0"/>
              <a:t>    if (fp == NULL) return 1;</a:t>
            </a:r>
          </a:p>
          <a:p>
            <a:r>
              <a:rPr lang="tr-TR" sz="2000" dirty="0"/>
              <a:t>    fread(&amp;o2, sizeof(struct Ogrenci), 1, fp);</a:t>
            </a:r>
          </a:p>
          <a:p>
            <a:r>
              <a:rPr lang="tr-TR" sz="2000" dirty="0"/>
              <a:t>    printf("%d %s\n", o2.no, o2.ad);</a:t>
            </a:r>
          </a:p>
          <a:p>
            <a:r>
              <a:rPr lang="tr-TR" sz="2000" dirty="0"/>
              <a:t>    fclose(fp);</a:t>
            </a:r>
          </a:p>
          <a:p>
            <a:r>
              <a:rPr lang="tr-TR" sz="2000" dirty="0"/>
              <a:t>    return 0;</a:t>
            </a:r>
          </a:p>
          <a:p>
            <a:r>
              <a:rPr lang="tr-TR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30768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28600" y="265113"/>
            <a:ext cx="8839200" cy="52322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tr-TR" altLang="tr-TR" sz="2800" dirty="0">
                <a:solidFill>
                  <a:srgbClr val="0000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Tekrar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30506" y="1036924"/>
            <a:ext cx="8273667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tr-TR" altLang="tr-TR" sz="2000" b="1" dirty="0"/>
              <a:t>Soru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İki öğrencilik bir binary dosya oluşturunuz.</a:t>
            </a:r>
            <a:b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değeri 102 olan öğrencinin notunu 95 yapınız ve güncel kayıtları ekrana yazdırınız. </a:t>
            </a:r>
          </a:p>
        </p:txBody>
      </p:sp>
    </p:spTree>
    <p:extLst>
      <p:ext uri="{BB962C8B-B14F-4D97-AF65-F5344CB8AC3E}">
        <p14:creationId xmlns:p14="http://schemas.microsoft.com/office/powerpoint/2010/main" val="1944344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4530" y="-49400"/>
            <a:ext cx="8375573" cy="7232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600" dirty="0"/>
              <a:t>#include &lt;stdio.h&gt;</a:t>
            </a:r>
          </a:p>
          <a:p>
            <a:r>
              <a:rPr lang="tr-TR" sz="1600" dirty="0"/>
              <a:t>struct Ogrenci {</a:t>
            </a:r>
          </a:p>
          <a:p>
            <a:r>
              <a:rPr lang="tr-TR" sz="1600" dirty="0"/>
              <a:t>    int no;</a:t>
            </a:r>
          </a:p>
          <a:p>
            <a:r>
              <a:rPr lang="tr-TR" sz="1600" dirty="0"/>
              <a:t>    float not;</a:t>
            </a:r>
          </a:p>
          <a:p>
            <a:r>
              <a:rPr lang="tr-TR" sz="1600" dirty="0"/>
              <a:t>};</a:t>
            </a:r>
          </a:p>
          <a:p>
            <a:r>
              <a:rPr lang="tr-TR" sz="1600" dirty="0"/>
              <a:t>int main(void){</a:t>
            </a:r>
          </a:p>
          <a:p>
            <a:r>
              <a:rPr lang="tr-TR" sz="1600" dirty="0"/>
              <a:t>    struct Ogrenci dizi[2] = {{101, 70}, {102, 80}};</a:t>
            </a:r>
          </a:p>
          <a:p>
            <a:r>
              <a:rPr lang="tr-TR" sz="1600" dirty="0"/>
              <a:t>    struct Ogrenci o;</a:t>
            </a:r>
          </a:p>
          <a:p>
            <a:r>
              <a:rPr lang="tr-TR" sz="1600" dirty="0"/>
              <a:t>    FILE *fp = fopen("ogr.dat", "wb");</a:t>
            </a:r>
          </a:p>
          <a:p>
            <a:r>
              <a:rPr lang="tr-TR" sz="1600" dirty="0"/>
              <a:t>    if (fp == NULL) return 1;</a:t>
            </a:r>
          </a:p>
          <a:p>
            <a:r>
              <a:rPr lang="tr-TR" sz="1600" dirty="0"/>
              <a:t>    fwrite(dizi, sizeof(struct Ogrenci), 2, fp);    fclose(fp);</a:t>
            </a:r>
          </a:p>
          <a:p>
            <a:r>
              <a:rPr lang="tr-TR" sz="1600" dirty="0"/>
              <a:t>    fp = fopen("ogr.dat", "r+b");</a:t>
            </a:r>
          </a:p>
          <a:p>
            <a:r>
              <a:rPr lang="tr-TR" sz="1600" dirty="0"/>
              <a:t>    if (fp == NULL) return 1;</a:t>
            </a:r>
          </a:p>
          <a:p>
            <a:r>
              <a:rPr lang="tr-TR" sz="1600" dirty="0"/>
              <a:t>    while (fread(&amp;o, sizeof(struct Ogrenci), 1, fp) == 1) {</a:t>
            </a:r>
          </a:p>
          <a:p>
            <a:r>
              <a:rPr lang="tr-TR" sz="1600" dirty="0"/>
              <a:t>        if (o.no == 102) {</a:t>
            </a:r>
          </a:p>
          <a:p>
            <a:r>
              <a:rPr lang="tr-TR" sz="1600" dirty="0"/>
              <a:t>            o.not = 95;</a:t>
            </a:r>
          </a:p>
          <a:p>
            <a:r>
              <a:rPr lang="tr-TR" sz="1600" dirty="0"/>
              <a:t>            fseek(fp, -(long)sizeof(struct Ogrenci), SEEK_CUR);</a:t>
            </a:r>
          </a:p>
          <a:p>
            <a:r>
              <a:rPr lang="tr-TR" sz="1600" dirty="0"/>
              <a:t>            fwrite(&amp;o, sizeof(struct Ogrenci), 1, fp);   break;</a:t>
            </a:r>
          </a:p>
          <a:p>
            <a:r>
              <a:rPr lang="tr-TR" sz="1600" dirty="0"/>
              <a:t>        }</a:t>
            </a:r>
          </a:p>
          <a:p>
            <a:r>
              <a:rPr lang="tr-TR" sz="1600" dirty="0"/>
              <a:t>    }</a:t>
            </a:r>
          </a:p>
          <a:p>
            <a:r>
              <a:rPr lang="tr-TR" sz="1600" dirty="0"/>
              <a:t>    fclose(fp);</a:t>
            </a:r>
          </a:p>
          <a:p>
            <a:r>
              <a:rPr lang="tr-TR" sz="1600" dirty="0"/>
              <a:t>    fp = fopen("ogr.dat", "rb");</a:t>
            </a:r>
          </a:p>
          <a:p>
            <a:r>
              <a:rPr lang="tr-TR" sz="1600" dirty="0"/>
              <a:t>    if (fp == NULL) return 1;</a:t>
            </a:r>
          </a:p>
          <a:p>
            <a:r>
              <a:rPr lang="tr-TR" sz="1600" dirty="0"/>
              <a:t>    while (fread(&amp;o, sizeof(struct Ogrenci), 1, fp) == 1) {</a:t>
            </a:r>
          </a:p>
          <a:p>
            <a:r>
              <a:rPr lang="tr-TR" sz="1600" dirty="0"/>
              <a:t>        printf("%d %.1f\n", o.no, o.not);</a:t>
            </a:r>
          </a:p>
          <a:p>
            <a:r>
              <a:rPr lang="tr-TR" sz="1600" dirty="0"/>
              <a:t>    }</a:t>
            </a:r>
          </a:p>
          <a:p>
            <a:r>
              <a:rPr lang="tr-TR" sz="1600" dirty="0"/>
              <a:t>    fclose(fp);    return 0;</a:t>
            </a:r>
          </a:p>
          <a:p>
            <a:r>
              <a:rPr lang="tr-T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72842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28600" y="265113"/>
            <a:ext cx="8839200" cy="52322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tr-TR" altLang="tr-TR" sz="2800" dirty="0">
                <a:solidFill>
                  <a:srgbClr val="0000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Tekrar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28600" y="1023622"/>
            <a:ext cx="8516039" cy="1891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Soru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Üç öğrencilik bir binary dosya oluşturunuz.</a:t>
            </a:r>
            <a:br>
              <a:rPr kumimoji="0" lang="tr-TR" altLang="tr-TR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tr-TR" altLang="tr-TR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Ortalaması 70 ve üstü olan öğrencileri basarili.dat dosyasına yazınız ve bu dosyayı ekrana yazdırınız.</a:t>
            </a:r>
          </a:p>
        </p:txBody>
      </p:sp>
    </p:spTree>
    <p:extLst>
      <p:ext uri="{BB962C8B-B14F-4D97-AF65-F5344CB8AC3E}">
        <p14:creationId xmlns:p14="http://schemas.microsoft.com/office/powerpoint/2010/main" val="4223932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32202" y="0"/>
            <a:ext cx="7227065" cy="7478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600" dirty="0"/>
              <a:t>#include &lt;stdio.h&gt;</a:t>
            </a:r>
          </a:p>
          <a:p>
            <a:r>
              <a:rPr lang="tr-TR" sz="1600" dirty="0"/>
              <a:t>struct Ogrenci {</a:t>
            </a:r>
          </a:p>
          <a:p>
            <a:r>
              <a:rPr lang="tr-TR" sz="1600" dirty="0"/>
              <a:t>    int no;</a:t>
            </a:r>
          </a:p>
          <a:p>
            <a:r>
              <a:rPr lang="tr-TR" sz="1600" dirty="0"/>
              <a:t>    float ort;</a:t>
            </a:r>
          </a:p>
          <a:p>
            <a:r>
              <a:rPr lang="tr-TR" sz="1600" dirty="0"/>
              <a:t>};</a:t>
            </a:r>
          </a:p>
          <a:p>
            <a:r>
              <a:rPr lang="tr-TR" sz="1600" dirty="0"/>
              <a:t>int main(void){</a:t>
            </a:r>
          </a:p>
          <a:p>
            <a:r>
              <a:rPr lang="tr-TR" sz="1600" dirty="0"/>
              <a:t>    struct Ogrenci dizi[3] = {{101, 65}, {102, 90}, {103, 75}};</a:t>
            </a:r>
          </a:p>
          <a:p>
            <a:r>
              <a:rPr lang="tr-TR" sz="1600" dirty="0"/>
              <a:t>    struct Ogrenci o;</a:t>
            </a:r>
          </a:p>
          <a:p>
            <a:r>
              <a:rPr lang="tr-TR" sz="1600" dirty="0"/>
              <a:t>    FILE *fp = fopen("tum.dat", "wb");</a:t>
            </a:r>
          </a:p>
          <a:p>
            <a:r>
              <a:rPr lang="tr-TR" sz="1600" dirty="0"/>
              <a:t>    if (fp == NULL) return 1;</a:t>
            </a:r>
          </a:p>
          <a:p>
            <a:r>
              <a:rPr lang="tr-TR" sz="1600" dirty="0"/>
              <a:t>    fwrite(dizi, sizeof(struct Ogrenci), 3, fp);</a:t>
            </a:r>
          </a:p>
          <a:p>
            <a:r>
              <a:rPr lang="tr-TR" sz="1600" dirty="0"/>
              <a:t>    fclose(fp);</a:t>
            </a:r>
          </a:p>
          <a:p>
            <a:r>
              <a:rPr lang="tr-TR" sz="1600" dirty="0"/>
              <a:t>    fp = fopen("tum.dat", "rb");</a:t>
            </a:r>
          </a:p>
          <a:p>
            <a:r>
              <a:rPr lang="tr-TR" sz="1600" dirty="0"/>
              <a:t>    FILE *fp2 = fopen("basarili.dat", "wb");</a:t>
            </a:r>
          </a:p>
          <a:p>
            <a:r>
              <a:rPr lang="tr-TR" sz="1600" dirty="0"/>
              <a:t>    if (fp == NULL || fp2 == NULL) return 1;</a:t>
            </a:r>
          </a:p>
          <a:p>
            <a:r>
              <a:rPr lang="tr-TR" sz="1600" dirty="0"/>
              <a:t>    while (fread(&amp;o, sizeof(struct Ogrenci), 1, fp) == 1) {</a:t>
            </a:r>
          </a:p>
          <a:p>
            <a:r>
              <a:rPr lang="tr-TR" sz="1600" dirty="0"/>
              <a:t>        if (o.ort &gt;= 70)</a:t>
            </a:r>
          </a:p>
          <a:p>
            <a:r>
              <a:rPr lang="tr-TR" sz="1600" dirty="0"/>
              <a:t>            fwrite(&amp;o, sizeof(struct Ogrenci), 1, fp2);</a:t>
            </a:r>
          </a:p>
          <a:p>
            <a:r>
              <a:rPr lang="tr-TR" sz="1600" dirty="0"/>
              <a:t>    }</a:t>
            </a:r>
          </a:p>
          <a:p>
            <a:r>
              <a:rPr lang="tr-TR" sz="1600" dirty="0"/>
              <a:t>    fclose(fp);</a:t>
            </a:r>
          </a:p>
          <a:p>
            <a:r>
              <a:rPr lang="tr-TR" sz="1600" dirty="0"/>
              <a:t>    fclose(fp2);</a:t>
            </a:r>
          </a:p>
          <a:p>
            <a:r>
              <a:rPr lang="tr-TR" sz="1600" dirty="0"/>
              <a:t>    fp2 = fopen("basarili.dat", "rb");</a:t>
            </a:r>
          </a:p>
          <a:p>
            <a:r>
              <a:rPr lang="tr-TR" sz="1600" dirty="0"/>
              <a:t>    if (fp2 == NULL) return 1;</a:t>
            </a:r>
          </a:p>
          <a:p>
            <a:r>
              <a:rPr lang="tr-TR" sz="1600" dirty="0"/>
              <a:t>    while (fread(&amp;o, sizeof(struct Ogrenci), 1, fp2) == 1) {</a:t>
            </a:r>
          </a:p>
          <a:p>
            <a:r>
              <a:rPr lang="tr-TR" sz="1600" dirty="0"/>
              <a:t>        printf("%d %.1f\n", o.no, o.ort);</a:t>
            </a:r>
          </a:p>
          <a:p>
            <a:r>
              <a:rPr lang="tr-TR" sz="1600" dirty="0"/>
              <a:t>    }</a:t>
            </a:r>
          </a:p>
          <a:p>
            <a:r>
              <a:rPr lang="tr-TR" sz="1600" dirty="0"/>
              <a:t>    fclose(fp2);</a:t>
            </a:r>
          </a:p>
          <a:p>
            <a:r>
              <a:rPr lang="tr-TR" sz="1600" dirty="0"/>
              <a:t>    return 0;</a:t>
            </a:r>
          </a:p>
          <a:p>
            <a:r>
              <a:rPr lang="tr-T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80567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28600" y="265113"/>
            <a:ext cx="8839200" cy="52322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tr-TR" altLang="tr-TR" sz="2800" dirty="0">
                <a:solidFill>
                  <a:srgbClr val="0000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Tekrar</a:t>
            </a:r>
          </a:p>
        </p:txBody>
      </p:sp>
      <p:sp>
        <p:nvSpPr>
          <p:cNvPr id="5" name="Right Brace 4"/>
          <p:cNvSpPr/>
          <p:nvPr/>
        </p:nvSpPr>
        <p:spPr>
          <a:xfrm>
            <a:off x="1883883" y="3437263"/>
            <a:ext cx="793215" cy="86460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TextBox 6"/>
          <p:cNvSpPr txBox="1"/>
          <p:nvPr/>
        </p:nvSpPr>
        <p:spPr>
          <a:xfrm>
            <a:off x="2677098" y="3378533"/>
            <a:ext cx="6257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Dosyadan gelecek verileri geçici olarak tutacağımız değişkenleri tanımlıyoruz. </a:t>
            </a:r>
          </a:p>
          <a:p>
            <a:r>
              <a:rPr lang="tr-TR" dirty="0">
                <a:solidFill>
                  <a:srgbClr val="FF0000"/>
                </a:solidFill>
              </a:rPr>
              <a:t>line dizisi, dosyadaki her bir satırı bütün olarak tutacak.</a:t>
            </a:r>
          </a:p>
        </p:txBody>
      </p:sp>
      <p:sp>
        <p:nvSpPr>
          <p:cNvPr id="9" name="Right Brace 8"/>
          <p:cNvSpPr/>
          <p:nvPr/>
        </p:nvSpPr>
        <p:spPr>
          <a:xfrm>
            <a:off x="2885041" y="1676989"/>
            <a:ext cx="1058998" cy="21584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TextBox 9"/>
          <p:cNvSpPr txBox="1"/>
          <p:nvPr/>
        </p:nvSpPr>
        <p:spPr>
          <a:xfrm>
            <a:off x="3944039" y="1338524"/>
            <a:ext cx="4913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Dosya açılırken bir hata oluştu mu kontrolü yapar. Eğer NULL dönerse programı sonlandırır..</a:t>
            </a:r>
          </a:p>
        </p:txBody>
      </p:sp>
      <p:sp>
        <p:nvSpPr>
          <p:cNvPr id="11" name="Right Brace 10"/>
          <p:cNvSpPr/>
          <p:nvPr/>
        </p:nvSpPr>
        <p:spPr>
          <a:xfrm>
            <a:off x="3336733" y="2066054"/>
            <a:ext cx="1058998" cy="46411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" name="TextBox 11"/>
          <p:cNvSpPr txBox="1"/>
          <p:nvPr/>
        </p:nvSpPr>
        <p:spPr>
          <a:xfrm>
            <a:off x="4648200" y="1974945"/>
            <a:ext cx="42093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Ekrana değil, fp işaretçisinin gösterdiği dosyaya veriyi formatlı bir şekilde yazar.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6059" y="919732"/>
            <a:ext cx="6258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dosya yoksa oluşturur, varsa içeriğini tamamen silip baştan yazar.</a:t>
            </a:r>
          </a:p>
        </p:txBody>
      </p:sp>
      <p:cxnSp>
        <p:nvCxnSpPr>
          <p:cNvPr id="16" name="Straight Arrow Connector 15"/>
          <p:cNvCxnSpPr>
            <a:endCxn id="14" idx="1"/>
          </p:cNvCxnSpPr>
          <p:nvPr/>
        </p:nvCxnSpPr>
        <p:spPr>
          <a:xfrm flipV="1">
            <a:off x="1883883" y="1104398"/>
            <a:ext cx="1012176" cy="320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810218" y="4927570"/>
            <a:ext cx="625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Eğer satırda 101 Ali 85.5 yazıyorsa, fscanf üçünü de başarıyla okur ve 3 değerini döndürür.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2699" y="801894"/>
            <a:ext cx="68580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#include &lt;stdio.h&gt;</a:t>
            </a:r>
          </a:p>
          <a:p>
            <a:r>
              <a:rPr lang="tr-TR" dirty="0"/>
              <a:t>int main(void) {</a:t>
            </a:r>
          </a:p>
          <a:p>
            <a:r>
              <a:rPr lang="tr-TR" dirty="0"/>
              <a:t>     FILE *fp = fopen("veri.txt", "w");</a:t>
            </a:r>
          </a:p>
          <a:p>
            <a:r>
              <a:rPr lang="tr-TR" dirty="0"/>
              <a:t>    if (fp == NULL) return 1;</a:t>
            </a:r>
          </a:p>
          <a:p>
            <a:r>
              <a:rPr lang="tr-TR" dirty="0"/>
              <a:t>    fprintf(fp, "101 Ali 85.5\n");</a:t>
            </a:r>
          </a:p>
          <a:p>
            <a:r>
              <a:rPr lang="tr-TR" dirty="0"/>
              <a:t>    fprintf(fp, "102 Ayse 91.0\n");</a:t>
            </a:r>
          </a:p>
          <a:p>
            <a:r>
              <a:rPr lang="tr-TR" dirty="0"/>
              <a:t>    fclose(fp);</a:t>
            </a:r>
          </a:p>
          <a:p>
            <a:r>
              <a:rPr lang="tr-TR" dirty="0"/>
              <a:t>    fp = fopen("veri.txt", "r");</a:t>
            </a:r>
          </a:p>
          <a:p>
            <a:r>
              <a:rPr lang="tr-TR" dirty="0"/>
              <a:t>    if (fp == NULL) return 1;</a:t>
            </a:r>
          </a:p>
          <a:p>
            <a:r>
              <a:rPr lang="tr-TR" dirty="0"/>
              <a:t>    int no;</a:t>
            </a:r>
          </a:p>
          <a:p>
            <a:r>
              <a:rPr lang="tr-TR" dirty="0"/>
              <a:t>    char ad[20];</a:t>
            </a:r>
          </a:p>
          <a:p>
            <a:r>
              <a:rPr lang="tr-TR" dirty="0"/>
              <a:t>    float ort;</a:t>
            </a:r>
          </a:p>
          <a:p>
            <a:r>
              <a:rPr lang="tr-TR" dirty="0"/>
              <a:t> </a:t>
            </a:r>
          </a:p>
          <a:p>
            <a:r>
              <a:rPr lang="tr-TR" dirty="0"/>
              <a:t>    while (fscanf(fp, "%d %19s %f", &amp;no, ad, &amp;ort) == 3) {</a:t>
            </a:r>
          </a:p>
          <a:p>
            <a:r>
              <a:rPr lang="tr-TR" dirty="0"/>
              <a:t>        printf("%d %s %.1f\n", no, ad, ort);</a:t>
            </a:r>
          </a:p>
          <a:p>
            <a:r>
              <a:rPr lang="tr-TR" dirty="0"/>
              <a:t>    }</a:t>
            </a:r>
          </a:p>
          <a:p>
            <a:r>
              <a:rPr lang="tr-TR" dirty="0"/>
              <a:t>    fclose(fp);</a:t>
            </a:r>
          </a:p>
          <a:p>
            <a:r>
              <a:rPr lang="tr-TR" dirty="0"/>
              <a:t>    return 0;</a:t>
            </a:r>
          </a:p>
          <a:p>
            <a:r>
              <a:rPr lang="tr-TR" dirty="0"/>
              <a:t>}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4648200" y="4710745"/>
            <a:ext cx="355867" cy="2856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7" y="5892931"/>
            <a:ext cx="2089365" cy="95419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451253" y="5486111"/>
            <a:ext cx="67092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Döngü üçüncü kez başa döner. fscanf dosyaya bakar ama artık okunacak veri kalmamıştır (EOF - End of File). 3 tane veri okuyamadığı için (0 döner), 0 == 3 şartı yanlış olur.Böylece döngüden çıkılır</a:t>
            </a:r>
          </a:p>
        </p:txBody>
      </p:sp>
    </p:spTree>
    <p:extLst>
      <p:ext uri="{BB962C8B-B14F-4D97-AF65-F5344CB8AC3E}">
        <p14:creationId xmlns:p14="http://schemas.microsoft.com/office/powerpoint/2010/main" val="4189730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47580" y="308982"/>
            <a:ext cx="44790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fwrite: dizi içindeki 2 adet öğrenci kaydını tek seferde dosyaya paketler. Artık diskimizde her biri sizeof(struct Ogrenci) kadar yer kaplayan iki blok veri var.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3788426" y="1509311"/>
            <a:ext cx="959154" cy="5150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38862" y="0"/>
            <a:ext cx="6392076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600" dirty="0"/>
              <a:t>#include &lt;stdio.h&gt;</a:t>
            </a:r>
          </a:p>
          <a:p>
            <a:r>
              <a:rPr lang="tr-TR" sz="1600" dirty="0"/>
              <a:t>struct Ogrenci {</a:t>
            </a:r>
          </a:p>
          <a:p>
            <a:r>
              <a:rPr lang="tr-TR" sz="1600" dirty="0"/>
              <a:t>    int no;</a:t>
            </a:r>
          </a:p>
          <a:p>
            <a:r>
              <a:rPr lang="tr-TR" sz="1600" dirty="0"/>
              <a:t>    float final;</a:t>
            </a:r>
          </a:p>
          <a:p>
            <a:r>
              <a:rPr lang="tr-TR" sz="1600" dirty="0"/>
              <a:t>};</a:t>
            </a:r>
          </a:p>
          <a:p>
            <a:r>
              <a:rPr lang="tr-TR" sz="1600" dirty="0"/>
              <a:t>int main(void){</a:t>
            </a:r>
          </a:p>
          <a:p>
            <a:r>
              <a:rPr lang="tr-TR" sz="1600" dirty="0"/>
              <a:t>    struct Ogrenci dizi[2] = {{101, 70}, {102, 80}};</a:t>
            </a:r>
          </a:p>
          <a:p>
            <a:r>
              <a:rPr lang="tr-TR" sz="1600" dirty="0"/>
              <a:t>    FILE *fp = fopen("ogr.dat", "wb");</a:t>
            </a:r>
          </a:p>
          <a:p>
            <a:r>
              <a:rPr lang="tr-TR" sz="1600" dirty="0"/>
              <a:t>    fwrite(dizi, sizeof(struct Ogrenci), 2, fp);</a:t>
            </a:r>
          </a:p>
          <a:p>
            <a:r>
              <a:rPr lang="tr-TR" sz="1600" dirty="0"/>
              <a:t>    fclose(fp);</a:t>
            </a:r>
          </a:p>
          <a:p>
            <a:r>
              <a:rPr lang="tr-TR" sz="1600" dirty="0"/>
              <a:t>    fp = fopen("ogr.dat", "r+b");</a:t>
            </a:r>
          </a:p>
          <a:p>
            <a:r>
              <a:rPr lang="tr-TR" sz="1600" dirty="0"/>
              <a:t>    struct Ogrenci o;</a:t>
            </a:r>
          </a:p>
          <a:p>
            <a:r>
              <a:rPr lang="tr-TR" sz="1600" dirty="0"/>
              <a:t>    while (fread(&amp;o, sizeof(struct Ogrenci), 1, fp) == 1) {</a:t>
            </a:r>
          </a:p>
          <a:p>
            <a:r>
              <a:rPr lang="tr-TR" sz="1600" dirty="0"/>
              <a:t>        if (o.no == 102) {</a:t>
            </a:r>
          </a:p>
          <a:p>
            <a:r>
              <a:rPr lang="tr-TR" sz="1600" dirty="0"/>
              <a:t>            o.final = 95;</a:t>
            </a:r>
          </a:p>
          <a:p>
            <a:r>
              <a:rPr lang="tr-TR" sz="1600" dirty="0"/>
              <a:t>            fseek(fp, -1L * (long)sizeof(struct Ogrenci), SEEK_CUR);</a:t>
            </a:r>
          </a:p>
          <a:p>
            <a:r>
              <a:rPr lang="tr-TR" sz="1600" dirty="0"/>
              <a:t>            fwrite(&amp;o, sizeof(struct Ogrenci), 1, fp);</a:t>
            </a:r>
          </a:p>
          <a:p>
            <a:r>
              <a:rPr lang="tr-TR" sz="1600" dirty="0"/>
              <a:t>            break;</a:t>
            </a:r>
          </a:p>
          <a:p>
            <a:r>
              <a:rPr lang="tr-TR" sz="1600" dirty="0"/>
              <a:t>        }</a:t>
            </a:r>
          </a:p>
          <a:p>
            <a:r>
              <a:rPr lang="tr-TR" sz="1600" dirty="0"/>
              <a:t>    }</a:t>
            </a:r>
          </a:p>
          <a:p>
            <a:r>
              <a:rPr lang="tr-TR" sz="1600" dirty="0"/>
              <a:t>    fclose(fp);</a:t>
            </a:r>
          </a:p>
          <a:p>
            <a:r>
              <a:rPr lang="tr-TR" sz="1600" dirty="0"/>
              <a:t>    fp = fopen("ogr.dat", "rb");</a:t>
            </a:r>
          </a:p>
          <a:p>
            <a:r>
              <a:rPr lang="tr-TR" sz="1600" dirty="0"/>
              <a:t>    while (fread(&amp;o, sizeof(struct Ogrenci), 1, fp) == 1) {</a:t>
            </a:r>
          </a:p>
          <a:p>
            <a:r>
              <a:rPr lang="tr-TR" sz="1600" dirty="0"/>
              <a:t>        printf("%d %.1f\n", o.no, o.final);</a:t>
            </a:r>
          </a:p>
          <a:p>
            <a:r>
              <a:rPr lang="tr-TR" sz="1600" dirty="0"/>
              <a:t>    }</a:t>
            </a:r>
          </a:p>
          <a:p>
            <a:r>
              <a:rPr lang="tr-TR" sz="1600" dirty="0"/>
              <a:t>    fclose(fp);</a:t>
            </a:r>
          </a:p>
          <a:p>
            <a:r>
              <a:rPr lang="tr-TR" sz="1600" dirty="0"/>
              <a:t>    return 0;</a:t>
            </a:r>
          </a:p>
          <a:p>
            <a:r>
              <a:rPr lang="tr-TR" sz="1600" dirty="0"/>
              <a:t>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93050" y="1883370"/>
            <a:ext cx="4074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fread fonksiyonu çalıştığı an, dosya imleci (parmağınla takip ettiğini düşün) okuduğu kaydın sonuna gider.</a:t>
            </a:r>
          </a:p>
        </p:txBody>
      </p:sp>
      <p:cxnSp>
        <p:nvCxnSpPr>
          <p:cNvPr id="33" name="Straight Arrow Connector 32"/>
          <p:cNvCxnSpPr/>
          <p:nvPr/>
        </p:nvCxnSpPr>
        <p:spPr>
          <a:xfrm flipV="1">
            <a:off x="3788426" y="2412694"/>
            <a:ext cx="1204624" cy="5618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993050" y="2773135"/>
            <a:ext cx="4074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3. Tur: fread dosyaya gider ama okunacak başka öğrenci kalmamıştır. Sonuç 0 döner. 0 == 1 yanlış olduğu için döngü biter.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49728" y="4051704"/>
            <a:ext cx="4074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Mevcut konumdan, tam olarak bir öğrenci kaydı boyutu kadar geriye git demektir.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1872867" y="3877937"/>
            <a:ext cx="3076861" cy="6396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076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28600" y="265113"/>
            <a:ext cx="8839200" cy="52322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tr-TR" altLang="tr-TR" sz="2800" dirty="0">
                <a:solidFill>
                  <a:srgbClr val="0000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Tekrar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985853"/>
            <a:ext cx="4572000" cy="467820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sz="2000" dirty="0"/>
              <a:t>#include &lt;stdio.h&gt;</a:t>
            </a:r>
          </a:p>
          <a:p>
            <a:endParaRPr lang="tr-TR" sz="2000" dirty="0"/>
          </a:p>
          <a:p>
            <a:r>
              <a:rPr lang="tr-TR" sz="2000" dirty="0"/>
              <a:t>int main(void){</a:t>
            </a:r>
          </a:p>
          <a:p>
            <a:r>
              <a:rPr lang="tr-TR" sz="2000" dirty="0"/>
              <a:t>    FILE *fp = fopen("a.txt", "w+");</a:t>
            </a:r>
          </a:p>
          <a:p>
            <a:r>
              <a:rPr lang="tr-TR" sz="2000" dirty="0"/>
              <a:t>    if (fp == NULL) return 1;</a:t>
            </a:r>
          </a:p>
          <a:p>
            <a:endParaRPr lang="tr-TR" sz="2000" dirty="0"/>
          </a:p>
          <a:p>
            <a:r>
              <a:rPr lang="tr-TR" sz="2000" dirty="0"/>
              <a:t>    fprintf(fp, "ABC");</a:t>
            </a:r>
          </a:p>
          <a:p>
            <a:r>
              <a:rPr lang="tr-TR" sz="2000" dirty="0"/>
              <a:t>    printf("%ld\n", ftell(fp));</a:t>
            </a:r>
          </a:p>
          <a:p>
            <a:endParaRPr lang="tr-TR" sz="2000" dirty="0"/>
          </a:p>
          <a:p>
            <a:r>
              <a:rPr lang="tr-TR" sz="2000" dirty="0"/>
              <a:t>    rewind(fp);</a:t>
            </a:r>
          </a:p>
          <a:p>
            <a:r>
              <a:rPr lang="tr-TR" sz="2000" dirty="0"/>
              <a:t>    printf("%ld\n", ftell(fp));</a:t>
            </a:r>
          </a:p>
          <a:p>
            <a:endParaRPr lang="tr-TR" sz="2000" dirty="0"/>
          </a:p>
          <a:p>
            <a:r>
              <a:rPr lang="tr-TR" sz="2000" dirty="0"/>
              <a:t>    fclose(fp);</a:t>
            </a:r>
          </a:p>
          <a:p>
            <a:r>
              <a:rPr lang="tr-TR" sz="2000" dirty="0"/>
              <a:t>    return 0;</a:t>
            </a:r>
          </a:p>
          <a:p>
            <a:r>
              <a:rPr lang="tr-TR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634079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28600" y="265113"/>
            <a:ext cx="8839200" cy="52322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tr-TR" altLang="tr-TR" sz="2800" dirty="0">
                <a:solidFill>
                  <a:srgbClr val="0000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Tekrar</a:t>
            </a:r>
          </a:p>
        </p:txBody>
      </p:sp>
      <p:sp>
        <p:nvSpPr>
          <p:cNvPr id="2" name="Rectangle 1"/>
          <p:cNvSpPr/>
          <p:nvPr/>
        </p:nvSpPr>
        <p:spPr>
          <a:xfrm>
            <a:off x="369065" y="948082"/>
            <a:ext cx="4572000" cy="440120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sz="2000" dirty="0"/>
              <a:t>#include &lt;stdio.h&gt;</a:t>
            </a:r>
          </a:p>
          <a:p>
            <a:endParaRPr lang="tr-TR" sz="2000" dirty="0"/>
          </a:p>
          <a:p>
            <a:r>
              <a:rPr lang="tr-TR" sz="2000" dirty="0"/>
              <a:t>int main(void){</a:t>
            </a:r>
          </a:p>
          <a:p>
            <a:r>
              <a:rPr lang="tr-TR" sz="2000" dirty="0"/>
              <a:t>    FILE *fp = fopen("b.txt", "w+");</a:t>
            </a:r>
          </a:p>
          <a:p>
            <a:r>
              <a:rPr lang="tr-TR" sz="2000" dirty="0"/>
              <a:t>    if (fp == NULL) return 1;</a:t>
            </a:r>
          </a:p>
          <a:p>
            <a:endParaRPr lang="tr-TR" sz="2000" dirty="0"/>
          </a:p>
          <a:p>
            <a:r>
              <a:rPr lang="tr-TR" sz="2000" dirty="0"/>
              <a:t>    fprintf(fp, "ABCDEFGHIJ");</a:t>
            </a:r>
          </a:p>
          <a:p>
            <a:endParaRPr lang="tr-TR" sz="2000" dirty="0"/>
          </a:p>
          <a:p>
            <a:r>
              <a:rPr lang="tr-TR" sz="2000" dirty="0"/>
              <a:t>    fseek(fp, 4, SEEK_SET);</a:t>
            </a:r>
          </a:p>
          <a:p>
            <a:r>
              <a:rPr lang="tr-TR" sz="2000" dirty="0"/>
              <a:t>    printf("%c\n", fgetc(fp));</a:t>
            </a:r>
          </a:p>
          <a:p>
            <a:endParaRPr lang="tr-TR" sz="2000" dirty="0"/>
          </a:p>
          <a:p>
            <a:r>
              <a:rPr lang="tr-TR" sz="2000" dirty="0"/>
              <a:t>    fclose(fp);</a:t>
            </a:r>
          </a:p>
          <a:p>
            <a:r>
              <a:rPr lang="tr-TR" sz="2000" dirty="0"/>
              <a:t>    return 0;</a:t>
            </a:r>
          </a:p>
          <a:p>
            <a:r>
              <a:rPr lang="tr-TR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69620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28600" y="265113"/>
            <a:ext cx="8839200" cy="52322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tr-TR" altLang="tr-TR" sz="2800" dirty="0">
                <a:solidFill>
                  <a:srgbClr val="0000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Tekrar</a:t>
            </a:r>
          </a:p>
        </p:txBody>
      </p:sp>
      <p:sp>
        <p:nvSpPr>
          <p:cNvPr id="3" name="Rectangle 2"/>
          <p:cNvSpPr/>
          <p:nvPr/>
        </p:nvSpPr>
        <p:spPr>
          <a:xfrm>
            <a:off x="308472" y="788333"/>
            <a:ext cx="6285123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#include &lt;stdio.h&gt;</a:t>
            </a:r>
          </a:p>
          <a:p>
            <a:r>
              <a:rPr lang="tr-TR" dirty="0"/>
              <a:t>struct Veri {</a:t>
            </a:r>
          </a:p>
          <a:p>
            <a:r>
              <a:rPr lang="tr-TR" dirty="0"/>
              <a:t>    int x;</a:t>
            </a:r>
          </a:p>
          <a:p>
            <a:r>
              <a:rPr lang="tr-TR" dirty="0"/>
              <a:t>    char ad[10];</a:t>
            </a:r>
          </a:p>
          <a:p>
            <a:r>
              <a:rPr lang="tr-TR" dirty="0"/>
              <a:t>};</a:t>
            </a:r>
          </a:p>
          <a:p>
            <a:endParaRPr lang="tr-TR" dirty="0"/>
          </a:p>
          <a:p>
            <a:r>
              <a:rPr lang="tr-TR" dirty="0"/>
              <a:t>int main(void){</a:t>
            </a:r>
          </a:p>
          <a:p>
            <a:r>
              <a:rPr lang="tr-TR" dirty="0"/>
              <a:t>    struct Veri v1 = {5, "Ali"};</a:t>
            </a:r>
          </a:p>
          <a:p>
            <a:r>
              <a:rPr lang="tr-TR" dirty="0"/>
              <a:t>    struct Veri v2;</a:t>
            </a:r>
          </a:p>
          <a:p>
            <a:endParaRPr lang="tr-TR" dirty="0"/>
          </a:p>
          <a:p>
            <a:r>
              <a:rPr lang="tr-TR" dirty="0"/>
              <a:t>    FILE *fp = fopen("veri.dat", "wb");</a:t>
            </a:r>
          </a:p>
          <a:p>
            <a:r>
              <a:rPr lang="tr-TR" dirty="0"/>
              <a:t>    fwrite(&amp;v1, sizeof(struct Veri), 1, fp);</a:t>
            </a:r>
          </a:p>
          <a:p>
            <a:r>
              <a:rPr lang="tr-TR" dirty="0"/>
              <a:t>    fclose(fp);</a:t>
            </a:r>
          </a:p>
          <a:p>
            <a:endParaRPr lang="tr-TR" dirty="0"/>
          </a:p>
          <a:p>
            <a:r>
              <a:rPr lang="tr-TR" dirty="0"/>
              <a:t>    fp = fopen("veri.dat", "rb");</a:t>
            </a:r>
          </a:p>
          <a:p>
            <a:r>
              <a:rPr lang="tr-TR" dirty="0"/>
              <a:t>    fread(&amp;v2, sizeof(struct Veri), 1, fp);</a:t>
            </a:r>
          </a:p>
          <a:p>
            <a:r>
              <a:rPr lang="tr-TR" dirty="0"/>
              <a:t>    fclose(fp);</a:t>
            </a:r>
          </a:p>
          <a:p>
            <a:endParaRPr lang="tr-TR" dirty="0"/>
          </a:p>
          <a:p>
            <a:r>
              <a:rPr lang="tr-TR" dirty="0"/>
              <a:t>    printf("%d %s\n", v2.x, v2.ad);</a:t>
            </a:r>
          </a:p>
          <a:p>
            <a:r>
              <a:rPr lang="tr-TR" dirty="0"/>
              <a:t>    return 0;</a:t>
            </a:r>
          </a:p>
          <a:p>
            <a:r>
              <a:rPr lang="tr-T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12865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6955</TotalTime>
  <Words>2283</Words>
  <Application>Microsoft Office PowerPoint</Application>
  <PresentationFormat>Ekran Gösterisi (4:3)</PresentationFormat>
  <Paragraphs>336</Paragraphs>
  <Slides>17</Slides>
  <Notes>17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17</vt:i4>
      </vt:variant>
    </vt:vector>
  </HeadingPairs>
  <TitlesOfParts>
    <vt:vector size="21" baseType="lpstr">
      <vt:lpstr>Arial</vt:lpstr>
      <vt:lpstr>Calibri</vt:lpstr>
      <vt:lpstr>Verdana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– Introduction to Deep Learning</dc:title>
  <dc:subject/>
  <dc:creator>atakan atakan</dc:creator>
  <cp:keywords/>
  <dc:description>generated using python-pptx</dc:description>
  <cp:lastModifiedBy>Atakan DAŞDEMİR</cp:lastModifiedBy>
  <cp:revision>584</cp:revision>
  <dcterms:created xsi:type="dcterms:W3CDTF">2013-01-27T09:14:16Z</dcterms:created>
  <dcterms:modified xsi:type="dcterms:W3CDTF">2026-04-21T09:11:50Z</dcterms:modified>
  <cp:category/>
</cp:coreProperties>
</file>